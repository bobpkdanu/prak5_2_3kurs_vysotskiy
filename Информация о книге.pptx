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6EE"/>
    <a:srgbClr val="FFE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23357-F3F0-4844-BA3A-441EDCAFDF96}" v="208" dt="2026-10-26T15:20:07.713"/>
    <p1510:client id="{DC4C074B-20D3-426D-87CC-9751A2AB8EEF}" v="10" dt="2026-10-26T15:43:50.165"/>
    <p1510:client id="{E6490B82-D6EC-4B17-A9C0-D7D716AC09CC}" v="142" dt="2026-10-26T15:40:45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3862" y="57740"/>
            <a:ext cx="845110" cy="6800903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77540"/>
            <a:ext cx="1024128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71675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МИНИСТЕРСТВО ОБРАЗОВАНИЯ И МОЛОДЕЖНОЙ ПОЛИТИКИ СВЕРДЛОВСКОЙ </a:t>
            </a:r>
            <a:r>
              <a:rPr sz="1200">
                <a:solidFill>
                  <a:srgbClr val="FFFFFF"/>
                </a:solidFill>
              </a:rPr>
              <a:t>ОБЛАСТИ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6569"/>
            <a:ext cx="1024128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675E"/>
                </a:solidFill>
                <a:latin typeface="Aptos"/>
              </a:defRPr>
            </a:pPr>
            <a:r>
              <a:rPr sz="1200">
                <a:solidFill>
                  <a:srgbClr val="FFFFFF"/>
                </a:solidFill>
              </a:rPr>
              <a:t>ГАПОУ СО «ЕКАТЕРИНБУРГСКИЙ КОЛЛЕДЖ ТРАНСПОРТНОГО СТРОИТЕЛЬСТВА»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1761" y="701898"/>
            <a:ext cx="7023278" cy="184855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9875520" cy="10500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302B27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Разработка мобильного приложения</a:t>
            </a:r>
            <a:endParaRPr lang="ru-RU">
              <a:solidFill>
                <a:schemeClr val="bg1"/>
              </a:solidFill>
            </a:endParaRPr>
          </a:p>
          <a:p>
            <a:pPr>
              <a:spcAft>
                <a:spcPts val="700"/>
              </a:spcAft>
              <a:defRPr sz="3000" b="1">
                <a:solidFill>
                  <a:srgbClr val="302B27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«Информация о книге»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90" y="5779394"/>
            <a:ext cx="6400800" cy="862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1675E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Работу выполнил</a:t>
            </a:r>
            <a:r>
              <a:rPr lang="ru-RU" sz="1400">
                <a:solidFill>
                  <a:schemeClr val="bg1"/>
                </a:solidFill>
              </a:rPr>
              <a:t>: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lang="ru-RU" sz="1400">
                <a:solidFill>
                  <a:schemeClr val="bg1"/>
                </a:solidFill>
              </a:rPr>
              <a:t>Высоцкий М.И</a:t>
            </a:r>
          </a:p>
          <a:p>
            <a:pPr>
              <a:spcAft>
                <a:spcPts val="700"/>
              </a:spcAft>
              <a:defRPr sz="1200" b="0">
                <a:solidFill>
                  <a:srgbClr val="71675E"/>
                </a:solidFill>
                <a:latin typeface="Aptos"/>
              </a:defRPr>
            </a:pPr>
            <a:r>
              <a:rPr lang="ru-RU" sz="1400">
                <a:solidFill>
                  <a:schemeClr val="bg1"/>
                </a:solidFill>
              </a:rPr>
              <a:t>Руководитель: Мирошниченко Г.В    </a:t>
            </a:r>
          </a:p>
          <a:p>
            <a:pPr>
              <a:spcAft>
                <a:spcPts val="700"/>
              </a:spcAft>
              <a:defRPr sz="1200" b="0">
                <a:solidFill>
                  <a:srgbClr val="71675E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Группа: </a:t>
            </a:r>
            <a:r>
              <a:rPr lang="ru-RU" sz="1400">
                <a:solidFill>
                  <a:schemeClr val="bg1"/>
                </a:solidFill>
              </a:rPr>
              <a:t>Пр-32</a:t>
            </a:r>
          </a:p>
        </p:txBody>
      </p:sp>
      <p:grpSp>
        <p:nvGrpSpPr>
          <p:cNvPr id="16" name="Group 8">
            <a:extLst>
              <a:ext uri="{FF2B5EF4-FFF2-40B4-BE49-F238E27FC236}">
                <a16:creationId xmlns:a16="http://schemas.microsoft.com/office/drawing/2014/main" id="{27AE091F-12F9-3AA0-E604-3DFBBDAAD1BB}"/>
              </a:ext>
            </a:extLst>
          </p:cNvPr>
          <p:cNvGrpSpPr/>
          <p:nvPr/>
        </p:nvGrpSpPr>
        <p:grpSpPr>
          <a:xfrm>
            <a:off x="66533" y="178802"/>
            <a:ext cx="681378" cy="859651"/>
            <a:chOff x="0" y="0"/>
            <a:chExt cx="1362756" cy="1719301"/>
          </a:xfrm>
        </p:grpSpPr>
        <p:pic>
          <p:nvPicPr>
            <p:cNvPr id="15" name="Picture 9">
              <a:extLst>
                <a:ext uri="{FF2B5EF4-FFF2-40B4-BE49-F238E27FC236}">
                  <a16:creationId xmlns:a16="http://schemas.microsoft.com/office/drawing/2014/main" id="{093F3B12-836C-158E-DD49-56C396A8F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О разработке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583680" cy="7140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302B27"/>
                </a:solidFill>
                <a:latin typeface="Aptos"/>
              </a:defRPr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предназначено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lang="ru-RU" dirty="0"/>
              <a:t>книг  </a:t>
            </a:r>
            <a:r>
              <a:rPr dirty="0"/>
              <a:t>по</a:t>
            </a:r>
            <a:r>
              <a:rPr lang="ru-RU" dirty="0"/>
              <a:t> </a:t>
            </a:r>
            <a:r>
              <a:rPr dirty="0"/>
              <a:t> </a:t>
            </a:r>
            <a:r>
              <a:rPr dirty="0" err="1"/>
              <a:t>уникальному</a:t>
            </a:r>
            <a:r>
              <a:rPr dirty="0"/>
              <a:t> </a:t>
            </a:r>
            <a:r>
              <a:rPr dirty="0" err="1"/>
              <a:t>номеру</a:t>
            </a:r>
            <a:r>
              <a:rPr dirty="0"/>
              <a:t> ISBN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658368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71675E"/>
                </a:solidFill>
                <a:latin typeface="Aptos"/>
              </a:defRPr>
            </a:pPr>
            <a:r>
              <a:rPr dirty="0"/>
              <a:t>Данные </a:t>
            </a:r>
            <a:r>
              <a:rPr dirty="0" err="1"/>
              <a:t>запрашиваются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Open Library API, </a:t>
            </a:r>
            <a:r>
              <a:rPr dirty="0" err="1"/>
              <a:t>отображаются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 и </a:t>
            </a:r>
            <a:r>
              <a:rPr dirty="0" err="1"/>
              <a:t>сохраняются</a:t>
            </a:r>
            <a:r>
              <a:rPr dirty="0"/>
              <a:t> локально</a:t>
            </a:r>
            <a:endParaRPr lang="ru-RU" dirty="0"/>
          </a:p>
        </p:txBody>
      </p:sp>
      <p:sp>
        <p:nvSpPr>
          <p:cNvPr id="8" name="Rounded Rectangle 7"/>
          <p:cNvSpPr/>
          <p:nvPr/>
        </p:nvSpPr>
        <p:spPr>
          <a:xfrm>
            <a:off x="7863840" y="1234440"/>
            <a:ext cx="3383280" cy="1234440"/>
          </a:xfrm>
          <a:prstGeom prst="roundRect">
            <a:avLst/>
          </a:prstGeom>
          <a:solidFill>
            <a:srgbClr val="F4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28346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ПОИСК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28346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02B27"/>
                </a:solidFill>
                <a:latin typeface="Aptos"/>
              </a:defRPr>
            </a:pPr>
            <a:r>
              <a:t>По ISBN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4320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28346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ХРАНЕНИЕ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337560"/>
            <a:ext cx="28346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02B27"/>
                </a:solidFill>
                <a:latin typeface="Aptos"/>
              </a:defRPr>
            </a:pPr>
            <a:r>
              <a:t>JSON и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202480"/>
            <a:ext cx="3333800" cy="1328650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4480560"/>
            <a:ext cx="2834640" cy="862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ru-RU"/>
              <a:t>· </a:t>
            </a:r>
            <a:r>
              <a:t>Добавление</a:t>
            </a:r>
            <a:r>
              <a:rPr dirty="0"/>
              <a:t> </a:t>
            </a:r>
            <a:endParaRPr lang="ru-RU"/>
          </a:p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· </a:t>
            </a:r>
            <a:r>
              <a:rPr err="1"/>
              <a:t>Изменение</a:t>
            </a:r>
            <a:r>
              <a:rPr dirty="0"/>
              <a:t> </a:t>
            </a:r>
            <a:endParaRPr lang="ru-RU" dirty="0"/>
          </a:p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· </a:t>
            </a:r>
            <a:r>
              <a:rPr err="1"/>
              <a:t>Удаление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Цели и задачи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07040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302B27"/>
                </a:solidFill>
                <a:latin typeface="Aptos"/>
              </a:defRPr>
            </a:pPr>
            <a:r>
              <a:rPr dirty="0" err="1"/>
              <a:t>Цель</a:t>
            </a:r>
            <a:r>
              <a:rPr dirty="0"/>
              <a:t> —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 о </a:t>
            </a:r>
            <a:r>
              <a:rPr dirty="0" err="1"/>
              <a:t>книгах</a:t>
            </a:r>
            <a:endParaRPr lang="ru-RU" dirty="0" err="1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02920" cy="438912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03704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39696"/>
            <a:ext cx="9601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/>
              <a:t>Изучить Open Library API и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ISBN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98648"/>
            <a:ext cx="502920" cy="438912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9504"/>
            <a:ext cx="9601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/>
              <a:t>Создать </a:t>
            </a:r>
            <a:r>
              <a:rPr dirty="0" err="1"/>
              <a:t>экран</a:t>
            </a:r>
            <a:r>
              <a:rPr dirty="0"/>
              <a:t> </a:t>
            </a:r>
            <a:r>
              <a:rPr dirty="0" err="1"/>
              <a:t>приветствия</a:t>
            </a:r>
            <a:r>
              <a:rPr dirty="0"/>
              <a:t> и </a:t>
            </a:r>
            <a:r>
              <a:rPr dirty="0" err="1"/>
              <a:t>авторизации</a:t>
            </a:r>
            <a:r>
              <a:rPr dirty="0"/>
              <a:t> с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пустых</a:t>
            </a:r>
            <a:r>
              <a:rPr dirty="0"/>
              <a:t> </a:t>
            </a:r>
            <a:r>
              <a:rPr dirty="0" err="1"/>
              <a:t>полей</a:t>
            </a:r>
            <a:endParaRPr lang="ru-RU" dirty="0" err="1"/>
          </a:p>
        </p:txBody>
      </p:sp>
      <p:sp>
        <p:nvSpPr>
          <p:cNvPr id="13" name="Rounded Rectangle 12"/>
          <p:cNvSpPr/>
          <p:nvPr/>
        </p:nvSpPr>
        <p:spPr>
          <a:xfrm>
            <a:off x="777240" y="3648456"/>
            <a:ext cx="502920" cy="438912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39312"/>
            <a:ext cx="9601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/>
              <a:t>Реализовать </a:t>
            </a:r>
            <a:r>
              <a:rPr dirty="0" err="1"/>
              <a:t>форму</a:t>
            </a:r>
            <a:r>
              <a:rPr dirty="0"/>
              <a:t> </a:t>
            </a:r>
            <a:r>
              <a:rPr dirty="0" err="1"/>
              <a:t>ввода</a:t>
            </a:r>
            <a:r>
              <a:rPr dirty="0"/>
              <a:t> ISBN и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98264"/>
            <a:ext cx="502920" cy="438912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453128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89120"/>
            <a:ext cx="9601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 err="1"/>
              <a:t>Сохранять</a:t>
            </a:r>
            <a:r>
              <a:rPr lang="ru-RU" dirty="0"/>
              <a:t> данные 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SharedPreferences</a:t>
            </a:r>
            <a:r>
              <a:rPr dirty="0"/>
              <a:t>,</a:t>
            </a:r>
            <a:r>
              <a:rPr lang="ru-RU" dirty="0"/>
              <a:t> </a:t>
            </a:r>
            <a:r>
              <a:rPr dirty="0" err="1"/>
              <a:t>книги</a:t>
            </a:r>
            <a:r>
              <a:rPr lang="ru-RU" dirty="0"/>
              <a:t> </a:t>
            </a:r>
            <a:r>
              <a:t>в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48072"/>
            <a:ext cx="502920" cy="438912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20293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138928"/>
            <a:ext cx="9601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/>
              <a:t>Добавить </a:t>
            </a:r>
            <a:r>
              <a:rPr err="1"/>
              <a:t>просмотр</a:t>
            </a:r>
            <a:r>
              <a:rPr dirty="0"/>
              <a:t>, </a:t>
            </a:r>
            <a:r>
              <a:rPr err="1"/>
              <a:t>редактирование</a:t>
            </a:r>
            <a:r>
              <a:rPr dirty="0"/>
              <a:t> и </a:t>
            </a:r>
            <a:r>
              <a:rPr err="1"/>
              <a:t>удаление</a:t>
            </a:r>
            <a:r>
              <a:rPr dirty="0"/>
              <a:t> </a:t>
            </a:r>
            <a:r>
              <a:rPr err="1"/>
              <a:t>сохранённых</a:t>
            </a:r>
            <a:r>
              <a:rPr dirty="0"/>
              <a:t> </a:t>
            </a:r>
            <a:r>
              <a:t>записей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Функциональные характеристики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834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9728" cy="1600200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4343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67036"/>
                </a:solidFill>
                <a:latin typeface="Aptos"/>
              </a:defRPr>
            </a:pPr>
            <a:r>
              <a:t>АВТОРИЗАЦИЯ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2976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Приветственный экран и проверка заполнения полей.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49834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09728" cy="1600200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554480"/>
            <a:ext cx="4343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67036"/>
                </a:solidFill>
                <a:latin typeface="Aptos"/>
              </a:defRPr>
            </a:pPr>
            <a:r>
              <a:t>ПОИСК КНИГИ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42976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Ввод ISBN и запрос сведений через Open Library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49834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109728" cy="1600200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4343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67036"/>
                </a:solidFill>
                <a:latin typeface="Aptos"/>
              </a:defRPr>
            </a:pPr>
            <a:r>
              <a:t>СОХРАНЕНИЕ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42976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Хранение пользовательских данных в SharedPreferences.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49834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109728" cy="1600200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703320"/>
            <a:ext cx="4343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67036"/>
                </a:solidFill>
                <a:latin typeface="Aptos"/>
              </a:defRPr>
            </a:pPr>
            <a:r>
              <a:t>КАТАЛОГ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160520"/>
            <a:ext cx="42976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Список книг с возможностью добавления, редактирования и удаления.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Используемые инструменты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600200"/>
          </a:xfrm>
          <a:prstGeom prst="roundRect">
            <a:avLst/>
          </a:prstGeom>
          <a:solidFill>
            <a:srgbClr val="F4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4592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3055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Язык разработки Android-приложения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64592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OPEN LIBRARY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3055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Источник информации о книгах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17320"/>
            <a:ext cx="3383280" cy="1600200"/>
          </a:xfrm>
          <a:prstGeom prst="roundRect">
            <a:avLst/>
          </a:prstGeom>
          <a:solidFill>
            <a:srgbClr val="F4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67928" y="1645920"/>
            <a:ext cx="297180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rPr lang="af-ZA"/>
              <a:t>JSON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7928" y="213055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Преобразование JSON в объекты и обратно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33832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79476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7939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Локальная база данных книг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566160"/>
            <a:ext cx="3383280" cy="1600200"/>
          </a:xfrm>
          <a:prstGeom prst="roundRect">
            <a:avLst/>
          </a:prstGeom>
          <a:solidFill>
            <a:srgbClr val="F4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379476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27939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Сохранение информации о пользователе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566160"/>
            <a:ext cx="33832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67928" y="3794760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7036"/>
                </a:solidFill>
                <a:latin typeface="Aptos"/>
              </a:defRPr>
            </a:pPr>
            <a:r>
              <a:t>VOLLEY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4279392"/>
            <a:ext cx="29260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HTTP-запросы к API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Основные экраны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316B3F-EB45-8779-CACD-0AFF899D3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689" y="851066"/>
            <a:ext cx="2667352" cy="538348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BC03F8-DE0B-DA60-D352-5EBC610CE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956" y="853540"/>
            <a:ext cx="2657501" cy="5383481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F31CAA-3367-68E0-77C6-B05ADC0F9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66" y="737259"/>
            <a:ext cx="2664244" cy="5383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Принцип работы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502920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93852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Ввод ISBN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14884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Пользователь вводит номер книги.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697480"/>
            <a:ext cx="320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E670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514600" cy="502920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93852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API-запрос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40"/>
            <a:ext cx="214884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Приложение обращается к Open Library.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2697480"/>
            <a:ext cx="320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E670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1828800"/>
            <a:ext cx="2514600" cy="502920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193852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JSON-ответ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06040"/>
            <a:ext cx="214884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Полученные данные преобразуются в объект.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697480"/>
            <a:ext cx="320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E670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60" y="1828800"/>
            <a:ext cx="2514600" cy="502920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90888" y="193852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Сохранение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606040"/>
            <a:ext cx="214884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302B27"/>
                </a:solidFill>
                <a:latin typeface="Aptos"/>
              </a:defRPr>
            </a:pPr>
            <a:r>
              <a:t>Книга записывается в локальную базу Room.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71675E"/>
                </a:solidFill>
                <a:latin typeface="Aptos"/>
              </a:defRPr>
            </a:pPr>
            <a:r>
              <a:t>SharedPreferences хранит сведения о пользователе, а Room обеспечивает сохранение и управление книгами.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302B27"/>
                </a:solidFill>
                <a:latin typeface="Aptos"/>
              </a:defRPr>
            </a:pPr>
            <a:r>
              <a:t>Результат и перспективы разработки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6291072"/>
            <a:ext cx="502920" cy="329184"/>
          </a:xfrm>
          <a:prstGeom prst="roundRect">
            <a:avLst/>
          </a:prstGeom>
          <a:solidFill>
            <a:srgbClr val="E6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00216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029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67036"/>
                </a:solidFill>
                <a:latin typeface="Aptos"/>
              </a:defRPr>
            </a:pPr>
            <a:r>
              <a:t>ОЖИДАЕМЫЙ РЕЗУЛЬТАТ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937760" cy="1828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302B27"/>
                </a:solidFill>
                <a:latin typeface="Aptos"/>
              </a:defRPr>
            </a:pPr>
            <a:r>
              <a:t>Мобильное приложение позволяет находить сведения о книге по ISBN и сохранять найденные записи для дальнейшего использования.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572000" cy="2971800"/>
          </a:xfrm>
          <a:prstGeom prst="roundRect">
            <a:avLst/>
          </a:prstGeom>
          <a:solidFill>
            <a:srgbClr val="F4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3931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67036"/>
                </a:solidFill>
                <a:latin typeface="Aptos"/>
              </a:defRPr>
            </a:pPr>
            <a:r>
              <a:t>ВОЗМОЖНОЕ РАЗВИТИЕ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40280"/>
            <a:ext cx="3840480" cy="12911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dirty="0"/>
              <a:t>• </a:t>
            </a:r>
            <a:r>
              <a:rPr err="1"/>
              <a:t>Поиск</a:t>
            </a:r>
            <a:r>
              <a:rPr dirty="0"/>
              <a:t> </a:t>
            </a:r>
            <a:r>
              <a:rPr err="1"/>
              <a:t>по</a:t>
            </a:r>
            <a:r>
              <a:rPr dirty="0"/>
              <a:t> </a:t>
            </a:r>
            <a:r>
              <a:rPr err="1"/>
              <a:t>названию</a:t>
            </a:r>
            <a:r>
              <a:rPr dirty="0"/>
              <a:t> и </a:t>
            </a:r>
            <a:r>
              <a:t>автору</a:t>
            </a:r>
            <a:endParaRPr lang="ru-RU" dirty="0"/>
          </a:p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rPr lang="ru-RU"/>
              <a:t>•</a:t>
            </a:r>
            <a:r>
              <a:rPr dirty="0"/>
              <a:t> </a:t>
            </a:r>
            <a:r>
              <a:rPr err="1"/>
              <a:t>Обложки</a:t>
            </a:r>
            <a:r>
              <a:rPr dirty="0"/>
              <a:t> книг</a:t>
            </a:r>
            <a:endParaRPr lang="ru-RU"/>
          </a:p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• </a:t>
            </a:r>
            <a:r>
              <a:rPr err="1"/>
              <a:t>Фильтрация</a:t>
            </a:r>
            <a:r>
              <a:rPr dirty="0"/>
              <a:t> и </a:t>
            </a:r>
            <a:r>
              <a:t>сортировка</a:t>
            </a:r>
            <a:endParaRPr lang="ru-RU"/>
          </a:p>
          <a:p>
            <a:pPr>
              <a:spcAft>
                <a:spcPts val="700"/>
              </a:spcAft>
              <a:defRPr sz="1600" b="0">
                <a:solidFill>
                  <a:srgbClr val="302B27"/>
                </a:solidFill>
                <a:latin typeface="Aptos"/>
              </a:defRPr>
            </a:pPr>
            <a:r>
              <a:t>• </a:t>
            </a:r>
            <a:r>
              <a:rPr err="1"/>
              <a:t>Улучшение</a:t>
            </a:r>
            <a:r>
              <a:rPr dirty="0"/>
              <a:t> </a:t>
            </a:r>
            <a:r>
              <a:rPr err="1"/>
              <a:t>оформления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24128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02B27"/>
                </a:solidFill>
                <a:latin typeface="Aptos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101</cp:revision>
  <dcterms:created xsi:type="dcterms:W3CDTF">2013-01-27T09:14:16Z</dcterms:created>
  <dcterms:modified xsi:type="dcterms:W3CDTF">2026-10-26T18:44:35Z</dcterms:modified>
  <cp:category/>
</cp:coreProperties>
</file>